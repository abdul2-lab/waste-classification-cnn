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Real Images per Class (after cleaning)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Images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9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Cardboard</c:v>
                  </c:pt>
                  <c:pt idx="1">
                    <c:v>Glass</c:v>
                  </c:pt>
                  <c:pt idx="2">
                    <c:v>Paper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403</c:v>
                </c:pt>
                <c:pt idx="1">
                  <c:v>500</c:v>
                </c:pt>
                <c:pt idx="2">
                  <c:v>585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029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5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Calibri"/>
              </a:rPr>
              <a:t>Images per Class by Split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(70%)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Cardboard</c:v>
                  </c:pt>
                  <c:pt idx="1">
                    <c:v>Glass</c:v>
                  </c:pt>
                  <c:pt idx="2">
                    <c:v>Paper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1400</c:v>
                </c:pt>
                <c:pt idx="1">
                  <c:v>1400</c:v>
                </c:pt>
                <c:pt idx="2">
                  <c:v>1400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(15%)</c:v>
                </c:pt>
              </c:strCache>
            </c:strRef>
          </c:tx>
          <c:spPr>
            <a:solidFill>
              <a:srgbClr val="6B8E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Cardboard</c:v>
                  </c:pt>
                  <c:pt idx="1">
                    <c:v>Glass</c:v>
                  </c:pt>
                  <c:pt idx="2">
                    <c:v>Paper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 (15%)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Cardboard</c:v>
                  </c:pt>
                  <c:pt idx="1">
                    <c:v>Glass</c:v>
                  </c:pt>
                  <c:pt idx="2">
                    <c:v>Paper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5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E5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5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6B5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Calibri"/>
              </a:rPr>
              <a:t>Precision / Recall / F1-score per Class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Cardboard</c:v>
                  </c:pt>
                  <c:pt idx="1">
                    <c:v>Glass</c:v>
                  </c:pt>
                  <c:pt idx="2">
                    <c:v>Paper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0.98</c:v>
                </c:pt>
                <c:pt idx="1">
                  <c:v>0.96</c:v>
                </c:pt>
                <c:pt idx="2">
                  <c:v>0.96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6B8E4E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Cardboard</c:v>
                  </c:pt>
                  <c:pt idx="1">
                    <c:v>Glass</c:v>
                  </c:pt>
                  <c:pt idx="2">
                    <c:v>Paper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0.95</c:v>
                </c:pt>
                <c:pt idx="1">
                  <c:v>0.98</c:v>
                </c:pt>
                <c:pt idx="2">
                  <c:v>0.97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Cardboard</c:v>
                  </c:pt>
                  <c:pt idx="1">
                    <c:v>Glass</c:v>
                  </c:pt>
                  <c:pt idx="2">
                    <c:v>Paper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0.96</c:v>
                </c:pt>
                <c:pt idx="1">
                  <c:v>0.97</c:v>
                </c:pt>
                <c:pt idx="2">
                  <c:v>0.96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CC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2E4F3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9DCC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9DCC9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486400" cy="5486400"/>
          </a:xfrm>
          <a:prstGeom prst="ellipse">
            <a:avLst/>
          </a:prstGeom>
          <a:solidFill>
            <a:srgbClr val="1F402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931920"/>
            <a:ext cx="3657600" cy="3657600"/>
          </a:xfrm>
          <a:prstGeom prst="ellipse">
            <a:avLst/>
          </a:prstGeom>
          <a:solidFill>
            <a:srgbClr val="1F402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icon_r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890" y="716890"/>
            <a:ext cx="486461" cy="4864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WASTE CLASSIFICATION SYSTEM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Convolutional Neural Network (CNN) Approach for Automated Waste Sorting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502920" cy="365760"/>
          </a:xfrm>
          <a:prstGeom prst="rect">
            <a:avLst>
              <a:gd name="adj" fmla="val 15000"/>
            </a:avLst>
          </a:prstGeom>
          <a:solidFill>
            <a:srgbClr val="2C5F2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160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   •   Glass   •   Paper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Presentation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— Final Year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7" y="20317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46120" y="1938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5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30358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TrashNet images collected &amp; cleaned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1965960"/>
            <a:ext cx="548640" cy="5486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12" name="Image 1" descr="icon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117" y="203179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938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5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52628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26280" y="30358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normalize, augment to 2,000/class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46720" y="1737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75320" y="196596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8" name="Image 2" descr="icon_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7" y="2031797"/>
            <a:ext cx="416966" cy="41696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44200" y="19385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5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27532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75320" y="30358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 / 15% test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24" name="Image 3" descr="icon_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7" y="4454957"/>
            <a:ext cx="416966" cy="41696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246120" y="43616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5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77240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77240" y="545896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convolution blocks + dense layers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29768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26280" y="43891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0" name="Image 4" descr="icon_trend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2117" y="4454957"/>
            <a:ext cx="416966" cy="41696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95160" y="43616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5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2" name="Text 25"/>
          <p:cNvSpPr/>
          <p:nvPr/>
        </p:nvSpPr>
        <p:spPr>
          <a:xfrm>
            <a:off x="4526280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526280" y="545896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epochs, resumable strategy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046720" y="41605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75320" y="4389120"/>
            <a:ext cx="548640" cy="54864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36" name="Image 5" descr="icon_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1157" y="4454957"/>
            <a:ext cx="416966" cy="41696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E5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8275320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275320" y="545896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 for live predictions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Project?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icon_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990" y="175199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waste sorting is slow, inconsistent, and labor-intensive.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Contaminated recycling streams reduce material recovery rates.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visual classification can sort waste faster and more consistently at the source.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9" name="Image 1" descr="icon_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710" y="1751990"/>
            <a:ext cx="382219" cy="38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CNN, Not a Plain ANN?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309360" y="2331720"/>
            <a:ext cx="53492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96×96 RGB image flattened for an ANN needs 27,648 input neurons — too many parameters, high overfitting risk.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Flattening destroys spatial relationships between neighboring pixels.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use small filters that scan the image, detecting patterns (edges, textures) regardless of position.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709160"/>
            <a:ext cx="11109960" cy="1188720"/>
          </a:xfrm>
          <a:prstGeom prst="roundRect">
            <a:avLst>
              <a:gd name="adj" fmla="val 7692"/>
            </a:avLst>
          </a:prstGeom>
          <a:solidFill>
            <a:srgbClr val="16311A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486460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96.56%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548640" y="53949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Test Accuracy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251960" y="486460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4251960" y="53949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Categories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955280" y="4864608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7955280" y="53949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Used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—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Dataset: TrashNet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waste photographs, sourced from the public TrashNet dataset (garythung/trashnet).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57607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675120" y="192024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202996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1,488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503920" y="20116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real images (after removing 10 duplicates)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5120" y="315468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326440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503920" y="32461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images found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75120" y="438912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03720" y="4498848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512×384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8503920" y="448056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image resolution (uniform)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—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the Data Look Like?</a:t>
            </a:r>
            <a:endParaRPr lang="en-US" sz="3000" dirty="0"/>
          </a:p>
        </p:txBody>
      </p:sp>
      <p:pic>
        <p:nvPicPr>
          <p:cNvPr id="4" name="Image 0" descr="02_sample_im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315200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600200"/>
            <a:ext cx="457200" cy="457200"/>
          </a:xfrm>
          <a:prstGeom prst="ellipse">
            <a:avLst/>
          </a:prstGeom>
          <a:solidFill>
            <a:srgbClr val="6B8E4E"/>
          </a:solidFill>
          <a:ln/>
        </p:spPr>
      </p:sp>
      <p:pic>
        <p:nvPicPr>
          <p:cNvPr id="6" name="Image 1" descr="icon_im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64" y="1655064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23960" y="16276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Findings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8229600" y="2148840"/>
            <a:ext cx="33832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Cardboard images are visibly darker on average than glass or paper (brightness histogram).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images trend brightest — reflective surfaces &amp; studio lighting.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images share a consistent 512×384 resolution — no resizing anomalies.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reasonably balanced (27% / 34% / 39%), no severe imbalance.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— 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Data Augmentation</a:t>
            </a:r>
            <a:endParaRPr lang="en-US" sz="3000" dirty="0"/>
          </a:p>
        </p:txBody>
      </p:sp>
      <p:pic>
        <p:nvPicPr>
          <p:cNvPr id="4" name="Image 0" descr="07_augmentation_s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949440" cy="1737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27355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cardboard samples — same source image, different rotation/zoom/shift each time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7" name="Image 1" descr="icon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384962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Applied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8640" y="425196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every image to 96×96 pixels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pixel values from 0–255 to 0–1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Augment: rotation, width/height shift, zoom, horizontal flip, brightness, shear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7955280" y="1508760"/>
            <a:ext cx="3657600" cy="4572000"/>
          </a:xfrm>
          <a:prstGeom prst="roundRect">
            <a:avLst>
              <a:gd name="adj" fmla="val 2500"/>
            </a:avLst>
          </a:prstGeom>
          <a:solidFill>
            <a:srgbClr val="16311A"/>
          </a:solidFill>
          <a:ln/>
        </p:spPr>
      </p:sp>
      <p:sp>
        <p:nvSpPr>
          <p:cNvPr id="11" name="Text 7"/>
          <p:cNvSpPr/>
          <p:nvPr/>
        </p:nvSpPr>
        <p:spPr>
          <a:xfrm>
            <a:off x="81838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EXPANSION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183880" y="21488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1,488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818388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images collected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183880" y="3200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augmentation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83880" y="36118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6,000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8183880" y="4160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training-ready images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83880" y="4709160"/>
            <a:ext cx="3200400" cy="0"/>
          </a:xfrm>
          <a:prstGeom prst="line">
            <a:avLst/>
          </a:prstGeom>
          <a:noFill/>
          <a:ln w="12700">
            <a:solidFill>
              <a:srgbClr val="3A5C3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183880" y="48920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images per class — exactly balanced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 — DATA SPLIT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Validation / Test Split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uniformly across all three classes — 1,400 / 300 / 300 each.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96596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63840" y="1965960"/>
            <a:ext cx="73152" cy="1143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207568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4,200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8138160" y="26791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63840" y="338328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0" y="3383280"/>
            <a:ext cx="73152" cy="1143000"/>
          </a:xfrm>
          <a:prstGeom prst="rect">
            <a:avLst/>
          </a:prstGeom>
          <a:solidFill>
            <a:srgbClr val="6B8E4E"/>
          </a:solidFill>
          <a:ln/>
        </p:spPr>
      </p:sp>
      <p:sp>
        <p:nvSpPr>
          <p:cNvPr id="12" name="Text 9"/>
          <p:cNvSpPr/>
          <p:nvPr/>
        </p:nvSpPr>
        <p:spPr>
          <a:xfrm>
            <a:off x="8138160" y="349300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138160" y="40965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images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63840" y="4800600"/>
            <a:ext cx="3749040" cy="1143000"/>
          </a:xfrm>
          <a:prstGeom prst="roundRect">
            <a:avLst>
              <a:gd name="adj" fmla="val 6400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63840" y="4800600"/>
            <a:ext cx="73152" cy="11430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4910328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138160" y="5513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 (held out)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949440" cy="493776"/>
          </a:xfrm>
          <a:prstGeom prst="roundRect">
            <a:avLst>
              <a:gd name="adj" fmla="val 11111"/>
            </a:avLst>
          </a:prstGeom>
          <a:solidFill>
            <a:srgbClr val="3A5C3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834640" y="155448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× 96 × 3 (RGB image)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86200" y="202996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6949440" cy="493776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834640" y="210312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filters, 3×3 → BatchNorm → ReLU → MaxPool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257860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6949440" cy="493776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34640" y="265176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filters, 3×3 → BatchNorm → ReLU → MaxPool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312724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6949440" cy="493776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3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34640" y="320040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filters, 3×3 → BatchNorm → ReLU → MaxPool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367588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6949440" cy="493776"/>
          </a:xfrm>
          <a:prstGeom prst="roundRect">
            <a:avLst>
              <a:gd name="adj" fmla="val 11111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4904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4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834640" y="374904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filters, 3×3 → BatchNorm → ReLU → MaxPool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86200" y="422452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6949440" cy="493776"/>
          </a:xfrm>
          <a:prstGeom prst="roundRect">
            <a:avLst>
              <a:gd name="adj" fmla="val 11111"/>
            </a:avLst>
          </a:prstGeom>
          <a:solidFill>
            <a:srgbClr val="6B8E4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9768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834640" y="429768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× 6 × 128 → 4,608 features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86200" y="477316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846320"/>
            <a:ext cx="6949440" cy="493776"/>
          </a:xfrm>
          <a:prstGeom prst="roundRect">
            <a:avLst>
              <a:gd name="adj" fmla="val 11111"/>
            </a:avLst>
          </a:prstGeom>
          <a:solidFill>
            <a:srgbClr val="6B8E4E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84632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Dropout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834640" y="484632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neurons, ReLU, 40% dropout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86200" y="5321808"/>
            <a:ext cx="274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394960"/>
            <a:ext cx="6949440" cy="493776"/>
          </a:xfrm>
          <a:prstGeom prst="roundRect">
            <a:avLst>
              <a:gd name="adj" fmla="val 11111"/>
            </a:avLst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39496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2834640" y="5394960"/>
            <a:ext cx="4480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DF3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neurons, Softmax → class probabilities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863840" y="1600200"/>
            <a:ext cx="3749040" cy="4572000"/>
          </a:xfrm>
          <a:prstGeom prst="roundRect">
            <a:avLst>
              <a:gd name="adj" fmla="val 2439"/>
            </a:avLst>
          </a:prstGeom>
          <a:solidFill>
            <a:srgbClr val="1F4023"/>
          </a:solidFill>
          <a:ln/>
        </p:spPr>
      </p:sp>
      <p:sp>
        <p:nvSpPr>
          <p:cNvPr id="36" name="Text 34"/>
          <p:cNvSpPr/>
          <p:nvPr/>
        </p:nvSpPr>
        <p:spPr>
          <a:xfrm>
            <a:off x="8092440" y="1828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STATS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92440" y="22860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2,496,331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8092440" y="26700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92440" y="32461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831,875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8092440" y="36301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92440" y="4206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Adam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8092440" y="45902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(lr = 0.0001)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092440" y="5166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8092440" y="55504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 loss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the Model</a:t>
            </a:r>
            <a:endParaRPr lang="en-US" sz="3200" dirty="0"/>
          </a:p>
        </p:txBody>
      </p:sp>
      <p:pic>
        <p:nvPicPr>
          <p:cNvPr id="4" name="Image 0" descr="08_training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2237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343400"/>
            <a:ext cx="7223760" cy="1737360"/>
          </a:xfrm>
          <a:prstGeom prst="roundRect">
            <a:avLst>
              <a:gd name="adj" fmla="val 5263"/>
            </a:avLst>
          </a:prstGeom>
          <a:solidFill>
            <a:srgbClr val="FDF3E7"/>
          </a:solidFill>
          <a:ln w="12700">
            <a:solidFill>
              <a:srgbClr val="F0D9A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553712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1" descr="icon_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18" y="4603090"/>
            <a:ext cx="312725" cy="3127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training challenge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77240" y="493776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epoch 6, validation accuracy suddenly dropped from 86% to 37% and validation loss spiked — a sign the learning rate was too high. Reducing it to 0.0001 immediately stabilized training, which then improved steadily to 95.3% validation accuracy by epoch 13.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8001000" y="1508760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229600" y="15819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229600" y="20756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trained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001000" y="2679192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0" y="27523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822960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01000" y="3849624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0" y="392277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95.33%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8229600" y="4416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accuracy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01000" y="5020056"/>
            <a:ext cx="3611880" cy="960120"/>
          </a:xfrm>
          <a:prstGeom prst="roundRect">
            <a:avLst>
              <a:gd name="adj" fmla="val 7619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0" y="509320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Resumable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8229600" y="55869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 (checkpoint-based)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3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Test Set Performance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572000"/>
          </a:xfrm>
          <a:prstGeom prst="roundRect">
            <a:avLst>
              <a:gd name="adj" fmla="val 3333"/>
            </a:avLst>
          </a:prstGeom>
          <a:solidFill>
            <a:srgbClr val="1F402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96.56%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900 held-out test images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" y="4251960"/>
            <a:ext cx="2377440" cy="0"/>
          </a:xfrm>
          <a:prstGeom prst="line">
            <a:avLst/>
          </a:prstGeom>
          <a:noFill/>
          <a:ln w="12700">
            <a:solidFill>
              <a:srgbClr val="3A5C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34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0.1055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4983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LOSS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486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/ 900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5989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9FB7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 (3.4%)</a:t>
            </a:r>
            <a:endParaRPr lang="en-US" sz="10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160520" y="160020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Error Analysis</a:t>
            </a:r>
            <a:endParaRPr lang="en-US" sz="3000" dirty="0"/>
          </a:p>
        </p:txBody>
      </p:sp>
      <p:pic>
        <p:nvPicPr>
          <p:cNvPr id="4" name="Image 0" descr="09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17320"/>
            <a:ext cx="5029200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1600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1" descr="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55064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86600" y="16276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Matrix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92240" y="214884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cells = correct predictions (284, 294, 291 out of 300 each).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confusion is between cardboard and paper (10 cardboard images predicted as paper) — both are similar-textured, light-colored materials.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is the most reliably identified class (294/300 correct) — likely due to its distinct reflective texture.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92240" y="5120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7F9F6"/>
          </a:solidFill>
          <a:ln w="12700">
            <a:solidFill>
              <a:srgbClr val="DCE5D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720840" y="512064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869 correct / 900 total test images  →  96.56% accuracy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Model to Web Application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is served through a Flask web app, so anyone can upload a photo and get an instant prediction.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F7F9F6"/>
          </a:solidFill>
          <a:ln w="19050">
            <a:solidFill>
              <a:srgbClr val="DCE5DC"/>
            </a:solidFill>
            <a:prstDash val="solid"/>
          </a:ln>
        </p:spPr>
      </p:sp>
      <p:pic>
        <p:nvPicPr>
          <p:cNvPr id="6" name="Image 0" descr="webapp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11680"/>
            <a:ext cx="374904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19202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8" name="Image 1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1975104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1947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577840" y="2468880"/>
            <a:ext cx="60350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or click-to-upload image interface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classification (Cardboard / Glass / Paper)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percentage for every class shown as progress bars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/ Non-recyclable badge for quick decision-making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Flask backend calling the trained Keras model directly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Classification System — CNN Viva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8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74650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19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real, working CNN pipeline end-to-end — data prep, EDA, augmentation, training, evaluation, deployment.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6,000 real + augmented images across 3 waste categories.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96.56% test accuracy with balanced precision/recall across all classes.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usable Flask web application.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9" name="Image 1" descr="icon_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664" y="174650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95160" y="1719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0" y="2194560"/>
            <a:ext cx="5257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remaining TrashNet classes: metal, plastic, trash.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transfer learning (MobileNetV2 / ResNet50) for higher accuracy.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at full 224×224 resolution on GPU hardware.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C9D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publicly on cloud hosting (Render / Railway) with a mobile-friendly UI.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3A5C3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2026-08-06T11:29:22Z</dcterms:created>
  <dcterms:modified xsi:type="dcterms:W3CDTF">2026-08-06T11:29:22Z</dcterms:modified>
</cp:coreProperties>
</file>